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9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8" r:id="rId24"/>
    <p:sldId id="277" r:id="rId25"/>
    <p:sldId id="278" r:id="rId26"/>
    <p:sldId id="287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5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316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4145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931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85668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6748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34E88643-CA1F-4663-8C06-BD5ECF50899D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235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546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59843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6698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5965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861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7522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78856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651292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01731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9713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6415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89565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54457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822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69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083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89466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52312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51347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3563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557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448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90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59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  <p:sldLayoutId id="2147483990" r:id="rId21"/>
    <p:sldLayoutId id="2147483991" r:id="rId22"/>
    <p:sldLayoutId id="2147483992" r:id="rId23"/>
    <p:sldLayoutId id="2147483993" r:id="rId24"/>
    <p:sldLayoutId id="2147483994" r:id="rId25"/>
    <p:sldLayoutId id="2147483995" r:id="rId26"/>
    <p:sldLayoutId id="2147483996" r:id="rId27"/>
    <p:sldLayoutId id="2147483997" r:id="rId28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/>
          <p:cNvSpPr/>
          <p:nvPr/>
        </p:nvSpPr>
        <p:spPr>
          <a:xfrm>
            <a:off x="2194560" y="4937760"/>
            <a:ext cx="7274560" cy="1463040"/>
          </a:xfrm>
          <a:prstGeom prst="roundRect">
            <a:avLst>
              <a:gd name="adj" fmla="val 5000"/>
            </a:avLst>
          </a:prstGeom>
          <a:solidFill>
            <a:srgbClr val="0B355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" name="Image 0" descr="images_extrait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1005840" cy="1005840"/>
          </a:xfrm>
          <a:prstGeom prst="rect">
            <a:avLst/>
          </a:prstGeom>
        </p:spPr>
      </p:pic>
      <p:pic>
        <p:nvPicPr>
          <p:cNvPr id="3" name="Image 1" descr="images_extraite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6304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UNIVERSITÉ NAZI BONI                                     BURKINA FASO                                                 BCEF INGÉNIERIE &amp; INFORMATIQUE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22960" y="24688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Statistique Spatiale et les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Systèmes d'Information Géographique (SIG)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stage — Licence Statistique-Informatique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606040" y="507492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SAKO Biton Faride Ben Cherif
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de stage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Brouahima W. RAMDE
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juillet – 03 août 2026   |   Année académique 2025-2026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1554480"/>
            <a:ext cx="9473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stage </a:t>
            </a: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et le département DISMAP</a:t>
            </a:r>
            <a:endParaRPr lang="en-US" sz="1900" b="1" dirty="0"/>
          </a:p>
        </p:txBody>
      </p:sp>
      <p:sp>
        <p:nvSpPr>
          <p:cNvPr id="8" name="Shape 6"/>
          <p:cNvSpPr/>
          <p:nvPr/>
        </p:nvSpPr>
        <p:spPr>
          <a:xfrm>
            <a:off x="822960" y="25328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8176" y="2514600"/>
            <a:ext cx="9473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</a:t>
            </a: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théoriques</a:t>
            </a: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 spatiale, géostatistique et SIG</a:t>
            </a:r>
            <a:endParaRPr lang="en-US" sz="1900" b="1" dirty="0"/>
          </a:p>
        </p:txBody>
      </p:sp>
      <p:sp>
        <p:nvSpPr>
          <p:cNvPr id="11" name="Shape 9"/>
          <p:cNvSpPr/>
          <p:nvPr/>
        </p:nvSpPr>
        <p:spPr>
          <a:xfrm>
            <a:off x="822960" y="349300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08176" y="3474720"/>
            <a:ext cx="9473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statistique spatiale, SIG et </a:t>
            </a:r>
            <a:r>
              <a:rPr lang="en-US" sz="2000" b="1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</a:t>
            </a: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SGBD spatiaux, automatisation R/Python</a:t>
            </a:r>
            <a:endParaRPr lang="en-US" sz="1900" b="1" dirty="0"/>
          </a:p>
        </p:txBody>
      </p:sp>
      <p:sp>
        <p:nvSpPr>
          <p:cNvPr id="14" name="Shape 12"/>
          <p:cNvSpPr/>
          <p:nvPr/>
        </p:nvSpPr>
        <p:spPr>
          <a:xfrm>
            <a:off x="822960" y="44531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296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08176" y="4434840"/>
            <a:ext cx="9473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</a:t>
            </a:r>
            <a:r>
              <a:rPr lang="en-US" sz="2000" b="1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appliquée</a:t>
            </a: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L'accès à l'eau potable au Burkina Faso</a:t>
            </a:r>
            <a:endParaRPr lang="en-US" sz="1900" b="1" dirty="0"/>
          </a:p>
        </p:txBody>
      </p:sp>
      <p:sp>
        <p:nvSpPr>
          <p:cNvPr id="17" name="Shape 15"/>
          <p:cNvSpPr/>
          <p:nvPr/>
        </p:nvSpPr>
        <p:spPr>
          <a:xfrm>
            <a:off x="822960" y="541324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22960" y="5413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08176" y="5394960"/>
            <a:ext cx="94731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recommandations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stage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309360" cy="4846320"/>
          </a:xfrm>
          <a:prstGeom prst="roundRect">
            <a:avLst>
              <a:gd name="adj" fmla="val 1509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BCEF Ingénierie &amp; Informatique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fondé </a:t>
            </a:r>
            <a:r>
              <a:rPr lang="en-US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2013 et formalisé en 2016 par Brouahima W. RAMDE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: excellence, transfert de compétences, impact générationnel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Départements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384048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DISMAP  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 socio-éco — notre affectation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68680" y="4498848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05840" y="449884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DEMESIGTL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Mines, environnement, SIG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68680" y="5157216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005840" y="51572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DIIIA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&amp; intelligence artificielle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68680" y="5815584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05840" y="581558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/ DGRV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stratégique, R&amp;D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132320" y="1371600"/>
            <a:ext cx="4480560" cy="484632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40664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mission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6640" y="23317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i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mettre dans la peau d'un expert pour présenter, expliquer et démontrer l'utilité de la statistique spatiale et des SIG à un public de décideurs, chefs de projets et acteurs de terrain.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et problématique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23084"/>
            <a:ext cx="10716260" cy="998221"/>
          </a:xfrm>
          <a:prstGeom prst="roundRect">
            <a:avLst>
              <a:gd name="adj" fmla="val 200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4700" y="1258063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monde de données géolocalisées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300" y="1618620"/>
            <a:ext cx="10820400" cy="1154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Dans un monde marqué par une multiplication des données à un rythme hallucinant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données sont rattachées à un lieu précis : </a:t>
            </a:r>
            <a:r>
              <a:rPr lang="en-US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commune, un département, </a:t>
            </a:r>
            <a:r>
              <a:rPr lang="en-US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province, </a:t>
            </a:r>
            <a:r>
              <a:rPr lang="en-US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region….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où se trouve l'information devient aussi important que l'information </a:t>
            </a:r>
            <a:r>
              <a:rPr lang="en-US" dirty="0" err="1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elle-même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760" y="2952751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disciplines aux logiques complémentaires, mais historiquement séparées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76300" y="3749040"/>
            <a:ext cx="5486400" cy="1737360"/>
          </a:xfrm>
          <a:prstGeom prst="roundRect">
            <a:avLst>
              <a:gd name="adj" fmla="val 6328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22960" y="3484881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 classique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chaque observation comme indépendante des </a:t>
            </a:r>
            <a:r>
              <a:rPr lang="en-US" dirty="0" err="1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ignore la position géographique, alors que celle-ci porte souvent une vraie information.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59500" y="3418839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22720" y="3512821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Systèmes d'Information Géographique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92240" y="3835908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pour visualiser et stocker les données sur </a:t>
            </a:r>
            <a:r>
              <a:rPr lang="en-US" dirty="0" err="1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carte. </a:t>
            </a:r>
            <a:r>
              <a:rPr lang="en-US" dirty="0" err="1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Cependant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manquent d'outils probabilistes pour tester si ce qu'on observe est réellement significatif.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3880" y="56007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 : </a:t>
            </a:r>
            <a:r>
              <a:rPr lang="en-US" i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l'interaction entre statistique spatiale, SIG et outils informatiques modernes permet-elle de transformer des données géolocalisées brutes en véritable outil d'aide à la décision ?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2103120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Fondements théoriques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560320" y="36576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 spatiale, géostatistique et Systèmes d'Information Géographique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Géomatique, SIG et SGBD spatial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22960" y="16184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8176" y="1600200"/>
            <a:ext cx="99303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Géomatique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transversale regroupant les technologies et méthodes pour acquérir, stocker, traiter et diffuser des données géographiques.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822960" y="291693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296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08176" y="2898648"/>
            <a:ext cx="99303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géoréférencée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associée à une position précise sur Terre (coordonnées x, y, z) et à des attributs thématiques.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22960" y="421538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22960" y="4215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08176" y="4197096"/>
            <a:ext cx="99303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d'Information Géographique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organisé de matériels, logiciels, données et méthodes pour capturer, analyser et afficher des données géoréférencées.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312664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22960" y="551383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22960" y="5513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08176" y="5495544"/>
            <a:ext cx="99303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spatial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optimisée pour les objets géométriques (ex : PostGIS) — calculs d'intersection, de distance, etc.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 spatiale vs géostatistique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de Tobler  —  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"Tout interagit avec tout le reste, mais les choses proches sont plus liées que les choses éloignées."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 spatiale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Intègre explicitement la position géographique dans l'analyse. Elle lève l'hypothèse d'indépendance des observations (contrairement à la statistique classique, dite I.I.D.).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7920" y="26974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Géostatistique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92240" y="33375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Née dans l'industrie minière sud-africaine. Étudie les phénomènes structurés dans l'espace via la notion de variable régionalisée (ex : teneur en minerai, taux de pauvreté).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: le "Détecteur de Clans"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Imaginez un jeu en ligne où des milliers de joueurs sont répartis sur une carte.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5B6B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3317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 classique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306324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moyenne d'or par joueur est de 500 pièces."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traite chaque joueur comme un point isolé, sans lien avec les autres.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537960" y="2331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◎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23760" y="23317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 spatiale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306324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vérifie si les joueurs riches se regroupent sur la carte.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prouve mathématiquement que la proximité géographique influence les valeurs observées.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matrices de pondération spatiale (W)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n × n où chaque élément wᵢⱼ indique l'intensité du lien spatial entre deux unités.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contiguïté (polygones)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7614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8176" y="2743200"/>
            <a:ext cx="42611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Rook (Tour)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Voisins = ceux qui partagent une frontière commune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08176" y="3611880"/>
            <a:ext cx="42611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Queen (Reine)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Voisins = frontière ou simple sommet commun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9224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distance (points ou polygones)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92240" y="27614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9224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77456" y="2743200"/>
            <a:ext cx="42611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fixe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dans un rayon de d kilomètres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492240" y="36301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92240" y="3630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77456" y="3611880"/>
            <a:ext cx="42611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k-plus proches voisins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entité liée aux k entités les plus proches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par ligne :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somme à 1 → moyennes pondérées comparables entre régions, peu importe leur nombre de voisins.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L'indice de Moran (I)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globale de l'autocorrélation spatiale — "Est-ce que les joueurs riches se regroupent entre eux ?"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10332720" cy="109728"/>
          </a:xfrm>
          <a:prstGeom prst="rect">
            <a:avLst/>
          </a:prstGeom>
          <a:solidFill>
            <a:srgbClr val="D9E4E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14400" y="2532888"/>
            <a:ext cx="347472" cy="347472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-91440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Autocorrélation négative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74920" y="2532888"/>
            <a:ext cx="347472" cy="347472"/>
          </a:xfrm>
          <a:prstGeom prst="ellipse">
            <a:avLst/>
          </a:prstGeom>
          <a:solidFill>
            <a:srgbClr val="5B6B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91456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9080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d'autocorrélation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875520" y="2532888"/>
            <a:ext cx="347472" cy="34747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592056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Autocorrélation positive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79120" y="4233672"/>
            <a:ext cx="109423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&gt; 0 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similaires se regroupent — des régions riches voisines d'autres régions riches.
</a:t>
            </a: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 0 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similaires se fuient — effet « damier » (dispersion).
</a:t>
            </a: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significativité (Z-score) 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si le regroupement observé est statistiquement fiable, au-delà du hasard.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L'indice de Geary (C)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Complémentaire à Moran, plus sensible aux écarts entre voisins immédiats.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pivot de l'indice de Geary n'est pas 0, mais 1.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≤ C &lt; 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68880" y="30175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80560" y="30175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: les voisins ont des valeurs proches (clusters, zones homogènes)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2960" y="4069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468880" y="40690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80560" y="40690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Aléatoire : la localisation n'influe pas sur la valeur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&gt; 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68880" y="51206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Négative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80560" y="51206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Dissimilarité : voisins très différents — effet « damier »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Indicateurs Locaux d'Association Spatiale (LISA)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Décompose l'indice de Moran global région par région — localise précisément les regroupements.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High-High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de valeurs élevées entouré de voisins élevés — un "hotspot"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Low-Low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 de valeurs faibles entourée de voisins faibles — un "coldspot"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2960" y="4297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High-Low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: région à valeur élevée isolée parmi des voisins faibles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8B6F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92240" y="4297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Low-High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4754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: région à valeur faible isolée parmi des voisins élevés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Significativité testée par tests de permutation (randomization), pas par une distribution normale classique.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59" y="2082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Semi-variogramme et krigeage ordinaire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2420" y="1334840"/>
            <a:ext cx="5745480" cy="5335200"/>
          </a:xfrm>
          <a:prstGeom prst="roundRect">
            <a:avLst>
              <a:gd name="adj" fmla="val 1633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59" y="9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Semi-variogramme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36320" y="1371600"/>
            <a:ext cx="4632959" cy="16663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fr-FR" dirty="0"/>
              <a:t>C'est un graphique qui répond à la question : </a:t>
            </a:r>
            <a:r>
              <a:rPr lang="fr-FR" i="1" dirty="0"/>
              <a:t>"Plus deux points sont éloignés l'un de l'autre, à quel point leurs valeurs se ressemblent-elles de moins en moins ?"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63582" y="4889640"/>
            <a:ext cx="4572000" cy="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Shape 9"/>
          <p:cNvSpPr/>
          <p:nvPr/>
        </p:nvSpPr>
        <p:spPr>
          <a:xfrm>
            <a:off x="888991" y="3129280"/>
            <a:ext cx="0" cy="173736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" name="Shape 10"/>
          <p:cNvSpPr/>
          <p:nvPr/>
        </p:nvSpPr>
        <p:spPr>
          <a:xfrm flipV="1">
            <a:off x="927087" y="3726179"/>
            <a:ext cx="1965951" cy="109728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3" name="Shape 11"/>
          <p:cNvSpPr/>
          <p:nvPr/>
        </p:nvSpPr>
        <p:spPr>
          <a:xfrm>
            <a:off x="2971800" y="3726179"/>
            <a:ext cx="228600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514582" y="5092701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(a)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60800" y="343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4889640"/>
            <a:ext cx="863582" cy="68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de pépite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01142" y="5120639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→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92240" y="1554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: le Signal Wi-Fi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2103120"/>
            <a:ext cx="4663440" cy="163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i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"Plus vous vous éloignez de la box, plus le signal change... jusqu'à un certain point où l'éloignement n'a plus d'impact."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i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ce que montre la courbe du variogramme</a:t>
            </a:r>
            <a:r>
              <a:rPr lang="en-US" sz="1400" i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31280" y="4287520"/>
            <a:ext cx="4968240" cy="1371600"/>
          </a:xfrm>
          <a:prstGeom prst="roundRect">
            <a:avLst>
              <a:gd name="adj" fmla="val 9150"/>
            </a:avLst>
          </a:prstGeom>
          <a:solidFill>
            <a:srgbClr val="0E4A63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2" name="Text 20"/>
          <p:cNvSpPr/>
          <p:nvPr/>
        </p:nvSpPr>
        <p:spPr>
          <a:xfrm>
            <a:off x="6675120" y="42062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Krigeage ordinaire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Estimateur BLUE (linéaire, non-biaisé, optimal). Permet d'estimer une valeur en tout point non-échantillonné.</a:t>
            </a:r>
            <a:endParaRPr lang="en-US" dirty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57C81E3-41C4-4EB2-FCAB-04F7A2A8CC2C}"/>
              </a:ext>
            </a:extLst>
          </p:cNvPr>
          <p:cNvCxnSpPr>
            <a:cxnSpLocks/>
          </p:cNvCxnSpPr>
          <p:nvPr/>
        </p:nvCxnSpPr>
        <p:spPr>
          <a:xfrm>
            <a:off x="2971800" y="3769360"/>
            <a:ext cx="0" cy="13512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6">
            <a:extLst>
              <a:ext uri="{FF2B5EF4-FFF2-40B4-BE49-F238E27FC236}">
                <a16:creationId xmlns:a16="http://schemas.microsoft.com/office/drawing/2014/main" id="{776820A3-AA16-F65B-2911-910047F81BE4}"/>
              </a:ext>
            </a:extLst>
          </p:cNvPr>
          <p:cNvSpPr/>
          <p:nvPr/>
        </p:nvSpPr>
        <p:spPr>
          <a:xfrm>
            <a:off x="0" y="0"/>
            <a:ext cx="12263120" cy="6858000"/>
          </a:xfrm>
          <a:prstGeom prst="roundRect">
            <a:avLst>
              <a:gd name="adj" fmla="val 0"/>
            </a:avLst>
          </a:prstGeom>
          <a:solidFill>
            <a:srgbClr val="0B3550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fr-FR" sz="3200" b="1" dirty="0">
                <a:solidFill>
                  <a:schemeClr val="bg2"/>
                </a:solidFill>
              </a:rPr>
              <a:t>Axe horizontal (Distance)</a:t>
            </a:r>
            <a:r>
              <a:rPr lang="fr-FR" sz="3200" dirty="0">
                <a:solidFill>
                  <a:schemeClr val="bg2"/>
                </a:solidFill>
              </a:rPr>
              <a:t> : l'éloignement entre deux points de mesure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sz="3200" b="1" dirty="0">
                <a:solidFill>
                  <a:schemeClr val="bg2"/>
                </a:solidFill>
              </a:rPr>
              <a:t>Axe vertical</a:t>
            </a:r>
            <a:r>
              <a:rPr lang="fr-FR" sz="3200" dirty="0">
                <a:solidFill>
                  <a:schemeClr val="bg2"/>
                </a:solidFill>
              </a:rPr>
              <a:t> : la dissemblance entre ces deux points (plus c'est haut, plus ils sont différents)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sz="3200" b="1" dirty="0">
                <a:solidFill>
                  <a:schemeClr val="bg2"/>
                </a:solidFill>
              </a:rPr>
              <a:t>Effet de pépite</a:t>
            </a:r>
            <a:r>
              <a:rPr lang="fr-FR" sz="3200" dirty="0">
                <a:solidFill>
                  <a:schemeClr val="bg2"/>
                </a:solidFill>
              </a:rPr>
              <a:t> : le point de départ de la courbe, juste au-dessus de zéro — même deux points très proches ne sont jamais identiques à 100% (bruit de mesure, micro-variations)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sz="3200" b="1" dirty="0">
                <a:solidFill>
                  <a:schemeClr val="bg2"/>
                </a:solidFill>
              </a:rPr>
              <a:t>Portée (a)</a:t>
            </a:r>
            <a:r>
              <a:rPr lang="fr-FR" sz="3200" dirty="0">
                <a:solidFill>
                  <a:schemeClr val="bg2"/>
                </a:solidFill>
              </a:rPr>
              <a:t> : la distance à partir de laquelle la courbe cesse de monter et se stabilise — au-delà, les points n'ont plus de lien géographique particulier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sz="3200" b="1" dirty="0">
                <a:solidFill>
                  <a:schemeClr val="bg2"/>
                </a:solidFill>
              </a:rPr>
              <a:t>Palier</a:t>
            </a:r>
            <a:r>
              <a:rPr lang="fr-FR" sz="3200" dirty="0">
                <a:solidFill>
                  <a:schemeClr val="bg2"/>
                </a:solidFill>
              </a:rPr>
              <a:t> : le niveau de dissemblance maximal atteint, une fois la portée dépassée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7242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2103120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Lien statistique spatiale, SIG et informatique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560320" y="36576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ces disciplines se rencontrent techniquement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Complémentarité entre SIG et statistique spatiale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Apporte la visualisation cartographique, le stockage géospatial et les requêtes spatiales.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23560" y="25831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r>
              <a:rPr lang="fr-FR" sz="2800" dirty="0">
                <a:solidFill>
                  <a:schemeClr val="bg2"/>
                </a:solidFill>
              </a:rPr>
              <a:t>+</a:t>
            </a:r>
          </a:p>
        </p:txBody>
      </p:sp>
      <p:sp>
        <p:nvSpPr>
          <p:cNvPr id="11" name="Text 9"/>
          <p:cNvSpPr/>
          <p:nvPr/>
        </p:nvSpPr>
        <p:spPr>
          <a:xfrm>
            <a:off x="5806440" y="2697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55080" y="155448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629400" y="17830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 spatiale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233172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Apporte la rigueur probabiliste et l'inférence : tester si un regroupement observé est réel ou dû au hasard.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10515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elles transforment une carte en véritable outil d'aide à la decision, pas seulement une image, mais une preuve.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SGBD spatiaux : l'exemple PostGIS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SGBD spatial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relationnelle capable d'exécuter des requêtes SQL incluant des calculs géométriques (intersections, distances, zones tampons...).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64240" cy="3017520"/>
          </a:xfrm>
          <a:prstGeom prst="roundRect">
            <a:avLst>
              <a:gd name="adj" fmla="val 2424"/>
            </a:avLst>
          </a:prstGeom>
          <a:solidFill>
            <a:srgbClr val="EAF2F6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: la Bibliothèque Intelligente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1840" y="3749040"/>
            <a:ext cx="10586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SGBD classique </a:t>
            </a: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les livres par titre.
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SGBD spatial comme PostGIS </a:t>
            </a: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 en plus répondre à : "Quels livres se trouvent à moins de 2 mètres de la fenêtre ?"
</a:t>
            </a:r>
            <a:r>
              <a:rPr lang="en-US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comprend la position, pas seulement le contenu</a:t>
            </a:r>
            <a:r>
              <a:rPr lang="en-US" sz="15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Automatisation et data science spatiale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automatiser ?  </a:t>
            </a: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Reproductibilité, traitement de gros volumes de données, élimination des erreurs manuelles répétitives.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276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mature pour l'analyse spatiale : packages sf, spdep, gstat.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académique pour les statistiques spatiales.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7920" y="26974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92240" y="34747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Polyvalence pour l'automatisation, le web-scraping de données.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dans des pipelines plus larges (geopandas, etc.).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et fonctionnement des SIG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composantes d'un SIG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066544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98064" y="1828800"/>
            <a:ext cx="2066544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98064" y="182880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47488" y="1828800"/>
            <a:ext cx="2066544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47488" y="182880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296912" y="1828800"/>
            <a:ext cx="2066544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296912" y="182880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546336" y="1828800"/>
            <a:ext cx="2066544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546336" y="182880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22960" y="3063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Vecteur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3474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discrets définis par des coordonnées : points, lignes, polygones (ex : contours de région, routes).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17920" y="2880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92240" y="3063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Raster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3474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Phénomènes continus représentés par une grille de pixels (ex : carte de chaleur de la pauvreté, image satellite).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2F6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de coordonnées (SCR) :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WGS84 (degrés, standard GPS) vs UTM (mètres, indispensable pour les distances/surfaces réelles).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2103120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cas appliquée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560320" y="36576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à l'eau potable au Burkina Faso — de la théorie à la pratique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et source des données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finement l'accès à l'eau potable, au-delà des moyennes régionales classiques.
</a:t>
            </a: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Démographique et de Santé (EDS/DHS) 2021, données individuelles, pas des statistiques déjà agrégées.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sondage à 2 degrés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342900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42062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du territoire en zones de dénombrement, puis tirage aléatoire des grappes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06440" y="4480560"/>
            <a:ext cx="8229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766560" y="342900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04088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040880" y="42062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aléatoire des ménages au sein de chaque grappe sélectionnée.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de l'indicateur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utilisé :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Recode (HR), variable hv201 (source d'eau déclarée)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6675120" cy="3291840"/>
          </a:xfrm>
          <a:prstGeom prst="roundRect">
            <a:avLst>
              <a:gd name="adj" fmla="val 2222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JMP (OMS/UNICEF)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6126480" cy="1234440"/>
          </a:xfrm>
          <a:prstGeom prst="roundRect">
            <a:avLst>
              <a:gd name="adj" fmla="val 5926"/>
            </a:avLst>
          </a:prstGeom>
          <a:solidFill>
            <a:srgbClr val="E3F0E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5760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Améliorée 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courante, forage, puits/source protégés, eau de pluie, camion-citerne...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6126480" cy="1143000"/>
          </a:xfrm>
          <a:prstGeom prst="roundRect">
            <a:avLst>
              <a:gd name="adj" fmla="val 6400"/>
            </a:avLst>
          </a:prstGeom>
          <a:solidFill>
            <a:srgbClr val="FBE7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05840" y="397764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améliorée 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puits/source non protégés, eau de surface (rivière, mare, barrage)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3"/>
          <p:cNvSpPr/>
          <p:nvPr/>
        </p:nvSpPr>
        <p:spPr>
          <a:xfrm>
            <a:off x="7498080" y="27432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514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749808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grappes géolocalisées analysées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0" y="40233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Acces_eau_ameliore</a:t>
            </a: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synthétique calculé par grappe, pondéré par les poids d'échantillonnage de l'enquête.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9F0B784-97DF-9076-5A91-F49DAC5F8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40" y="114300"/>
            <a:ext cx="8615680" cy="64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60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d'autocorrélation spatiale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tester avant de krigeager ?  </a:t>
            </a:r>
            <a:r>
              <a:rPr lang="en-US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qu'une vraie structure spatiale existe. Voisinage défini par k-plus proches voisins (k = 6).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Moran's 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0,5001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observée  (attendue sous H0 : -0,0019)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0,0001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17920" y="21488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Geary's 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697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0,4882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observée  (attendue sous H0 : 1,0000)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224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0,0001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AF2F6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</a:t>
            </a: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autocorrélation spatiale positive forte et hautement significative — l'hypothèse d'absence de structure spatiale est rejetée.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Krigeage ponctuel : principe et mise en œuvre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 </a:t>
            </a: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 l'accès à l'eau en tout point du territoire, y compris là où aucune donnée n'existe directement.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œuvre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822960" y="341985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2960" y="3419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08176" y="3401568"/>
            <a:ext cx="9930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 grappes géolocalisées à partir du fichier de coordonnées (GE), coordonnées reprojetées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22960" y="44714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2960" y="4471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08176" y="4453128"/>
            <a:ext cx="9930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Krigeage ordinaire réalisé sur une grille régulière de points espacés de 3 km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22960" y="552297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22960" y="5522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08176" y="5504688"/>
            <a:ext cx="9930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recouvrant l'ensemble du territoire national → surface continue d'estimation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3DB5372-569A-1620-A7D8-B92A16AF5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92" y="0"/>
            <a:ext cx="9245608" cy="693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81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du krigeage : accès à l'eau potable par région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88720" y="1051560"/>
            <a:ext cx="97840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6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917712E-EA82-6774-E1AF-C36670784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432" y="921167"/>
            <a:ext cx="6927678" cy="538819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Taux national et hiérarchisation des régions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869680" y="32004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869680" y="365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84,2 %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869680" y="841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national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268B772-3450-AEFC-FF6C-0570A3174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927952"/>
            <a:ext cx="8209280" cy="547285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 : disparités régionales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7E5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77240" y="205740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57,0 %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0" y="198424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du Mouhoun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4048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 prioritaire pour toute intervention. En </a:t>
            </a:r>
            <a:r>
              <a:rPr lang="en-US" b="1" i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</a:t>
            </a:r>
            <a:r>
              <a:rPr lang="en-US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4 personnes sur 10 </a:t>
            </a:r>
            <a:r>
              <a:rPr lang="en-US" b="1" i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</a:t>
            </a:r>
            <a:r>
              <a:rPr lang="en-US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sans accès amélioré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65-80 %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43200" y="317296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Nord, Hauts-Bassins, Centre-Ouest, Sud-Ouest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43200" y="359359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intermédiaire, ouest du pays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77240" y="443484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80-90 %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43200" y="436168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Sahel, Est, Centre-Nord, Cascades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43200" y="478231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élevé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77240" y="5623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&gt;90 %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743200" y="55504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Centre-Est, Plateau Central, Centre, Centre-Sud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43200" y="597103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régions les mieux couvertes du pays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et limites méthodologiques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09960" y="365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10996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principale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du Mouhoun ressort comme la région prioritaire pour toute intervention en infrastructures hydrauliques (forages, AEPS, réseaux </a:t>
            </a:r>
            <a:r>
              <a:rPr lang="en-US" dirty="0" err="1">
                <a:solidFill>
                  <a:srgbClr val="F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d'adduction</a:t>
            </a:r>
            <a:r>
              <a:rPr lang="en-US" dirty="0">
                <a:solidFill>
                  <a:srgbClr val="F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c'est elle qui doit concentrer les efforts en premier.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à connaître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822960" y="36758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296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08176" y="3657600"/>
            <a:ext cx="9930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GPS des grappes volontairement déplacées (jusqu'à 5 km) pour l'anonymat → incertitude mineure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22960" y="46817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2296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08176" y="4663440"/>
            <a:ext cx="9930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administratif à 13 régions (avant la réforme de juillet 2025 → 17 régions)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22960" y="56875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22960" y="5687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08176" y="5669280"/>
            <a:ext cx="9930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 de points de grille par région variable selon la superficie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générale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stage, effectué au sein du DISMAP de BCEF Ingénierie &amp; Informatique, avait pour mission de produire un document de vulgarisation sur la statistique spatiale et les SIG.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7240" y="28620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69748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Autocorrélation spatiale, indices de Moran et de Geary, bases de la géostatistique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77240" y="3959352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77240" y="39593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379476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en œuvre concrète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Complémentarité SIG/statistique spatiale, SGBD spatiaux, automatisation via R et Python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77240" y="5056632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5056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89204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à l'épreuve  </a:t>
            </a:r>
            <a:r>
              <a:rPr lang="en-US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à l'eau potable au Burkina Faso, à partir des données individuelles de l'EDS 2021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tests confirment une structure spatiale forte et significative, exploitée pour krigeager et cartographier finement le territoire.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1737360"/>
            <a:ext cx="1463040" cy="0"/>
          </a:xfrm>
          <a:prstGeom prst="line">
            <a:avLst/>
          </a:prstGeom>
          <a:noFill/>
          <a:ln w="25400">
            <a:solidFill>
              <a:srgbClr val="F5C77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9418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"Tout interagit avec tout le reste,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les choses proches sont plus liées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les choses éloignées."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9776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Waldo Tobler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94560" y="4754880"/>
            <a:ext cx="7772400" cy="1463040"/>
          </a:xfrm>
          <a:prstGeom prst="roundRect">
            <a:avLst>
              <a:gd name="adj" fmla="val 5000"/>
            </a:avLst>
          </a:prstGeom>
          <a:solidFill>
            <a:srgbClr val="0B35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468880" y="489204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travail est parti de ce constat simple. À l'issue de ce stage, cette loi ne relève plus de la théorie : elle a permis d'identifier concrètement une région burkinabè où l'urgence d'agir est la plus forte</a:t>
            </a:r>
            <a:r>
              <a:rPr lang="en-US" sz="1300" i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_extrait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8229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371600" y="31089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Département DISMAP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Nazi Boni — Licence Statistique-Informatique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BCEF Ingénierie &amp; Informatique — DISMAP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188</TotalTime>
  <Words>2494</Words>
  <Application>Microsoft Office PowerPoint</Application>
  <PresentationFormat>Grand écran</PresentationFormat>
  <Paragraphs>357</Paragraphs>
  <Slides>33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</vt:lpstr>
      <vt:lpstr>Neue Haas Grotesk Text Pro</vt:lpstr>
      <vt:lpstr>Helena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Chérif Biton Sako</cp:lastModifiedBy>
  <cp:revision>5</cp:revision>
  <dcterms:created xsi:type="dcterms:W3CDTF">2026-08-05T18:21:48Z</dcterms:created>
  <dcterms:modified xsi:type="dcterms:W3CDTF">2026-08-24T01:28:17Z</dcterms:modified>
</cp:coreProperties>
</file>